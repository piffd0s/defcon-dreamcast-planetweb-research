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20A"/>
            </a:gs>
            <a:gs pos="100000">
              <a:srgbClr val="12040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4114800"/>
            <a:ext cx="15544800" cy="4572000"/>
          </a:xfrm>
          <a:prstGeom prst="ellipse">
            <a:avLst/>
          </a:prstGeom>
          <a:solidFill>
            <a:srgbClr val="2A080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Menlo"/>
              </a:defRPr>
            </a:pPr>
            <a:r>
              <a:t>DEF CON · CREATOR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E6EAF0"/>
                </a:solidFill>
                <a:latin typeface="Menlo"/>
              </a:defRPr>
            </a:pPr>
            <a:r>
              <a:t>DREAMCAST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91695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800" b="1">
                <a:solidFill>
                  <a:srgbClr val="E85D2C"/>
                </a:solidFill>
                <a:latin typeface="Menlo"/>
              </a:defRPr>
            </a:pPr>
            <a:r>
              <a:t>EX INFERIS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8CDD6"/>
                </a:solidFill>
                <a:latin typeface="Helvetica Neue"/>
              </a:defRPr>
            </a:pPr>
            <a:r>
              <a:t>RCE on the Sega Dreamcast PlanetWeb Browser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572000"/>
            <a:ext cx="2103120" cy="12700"/>
          </a:xfrm>
          <a:prstGeom prst="rect">
            <a:avLst/>
          </a:prstGeom>
          <a:solidFill>
            <a:srgbClr val="5A2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C8E8"/>
                </a:solidFill>
                <a:latin typeface="Menlo"/>
              </a:defRPr>
            </a:pPr>
            <a:r>
              <a:t>Christopher Hernandez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12064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enlo"/>
              </a:defRPr>
            </a:pPr>
            <a:r>
              <a:t>Saturday 10:45 AM · LVCC Level 1 · Exhibit Hall West 3 – 801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WHY THIS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EAF0"/>
                </a:solidFill>
                <a:latin typeface="Menlo"/>
              </a:defRPr>
            </a:pPr>
            <a:r>
              <a:t>The first mainstream internet-connected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029200" cy="2743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Launched September 9, 1999 (9/9/99)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Shipped with a 56k modem in every unit — online out of the box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A web browser on your TV, a decade before smart TVs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Online multiplayer before Xbox Live existed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t>Discontinued March 31, 2001. Sega’s last console.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4846320" cy="29260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38100" cy="2926080"/>
          </a:xfrm>
          <a:prstGeom prst="rect">
            <a:avLst/>
          </a:prstGeom>
          <a:solidFill>
            <a:srgbClr val="4A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341120"/>
            <a:ext cx="446532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Personal 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671320"/>
            <a:ext cx="4465320" cy="2291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CDD6"/>
                </a:solidFill>
                <a:latin typeface="Helvetica Neue"/>
              </a:defRPr>
            </a:pPr>
            <a:r>
              <a:t>This was the first console I played as a kid — probably too much. I used that 56k modem to dial up to game servers. 25 years later, I wanted to understand what was actually happening on the other end of that phone 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WHY A YEAR-2000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6EAF0"/>
                </a:solidFill>
                <a:latin typeface="Menlo"/>
              </a:defRPr>
            </a:pPr>
            <a:r>
              <a:t>Lower barrier to entry than modern browsers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029200" cy="256032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5CB87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No ASLR — every address is deterministic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5CB87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No W^X / DEP — memory is read-write-execute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5CB87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No sandbox — Java VM has no SecurityManager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5CB87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No code signing — downloaded JARs run unverified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5CB87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Plaintext HTTP — no TLS anywhere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t>The trust model is "if we fetched it, run it."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A84A"/>
                </a:solidFill>
                <a:latin typeface="Menlo"/>
              </a:defRPr>
            </a:pPr>
            <a:r>
              <a:t>But there are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Exotic CPU — Hitachi SH-4 (SuperH), not x86/ARM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16 MB of RAM — total, shared with video and OS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Usable memory ~10 MB — browser image is 4.4 MB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Flat memory — no MMU, no heap metadata to abuse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PersonalJava 1.1.8 — a stripped JDK from 1998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THE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Menlo"/>
              </a:defRPr>
            </a:pPr>
            <a:r>
              <a:t>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7772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AF0"/>
                </a:solidFill>
                <a:latin typeface="Helvetica Neue"/>
              </a:defRPr>
            </a:pPr>
            <a:r>
              <a:t>PlanetWeb Internet Browser v3.0 (USA) — GD-ROM disc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84960"/>
            <a:ext cx="9875520" cy="6350"/>
          </a:xfrm>
          <a:prstGeom prst="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116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Menlo"/>
              </a:defRPr>
            </a:pPr>
            <a:r>
              <a:t>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661160"/>
            <a:ext cx="7772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AF0"/>
                </a:solidFill>
                <a:latin typeface="Helvetica Neue"/>
              </a:defRPr>
            </a:pPr>
            <a:r>
              <a:t>PlanetWeb, Inc. (San Jose, CA) — defunct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9875520" cy="6350"/>
          </a:xfrm>
          <a:prstGeom prst="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4216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Menlo"/>
              </a:defRPr>
            </a:pPr>
            <a:r>
              <a:t>CPU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42160"/>
            <a:ext cx="7772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AF0"/>
                </a:solidFill>
                <a:latin typeface="Helvetica Neue"/>
              </a:defRPr>
            </a:pPr>
            <a:r>
              <a:t>Hitachi SH-4 @ 200 MHz, little-endian, 32-bit RISC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346960"/>
            <a:ext cx="9875520" cy="6350"/>
          </a:xfrm>
          <a:prstGeom prst="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2316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Menlo"/>
              </a:defRPr>
            </a:pPr>
            <a:r>
              <a:t>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23160"/>
            <a:ext cx="7772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AF0"/>
                </a:solidFill>
                <a:latin typeface="Helvetica Neue"/>
              </a:defRPr>
            </a:pPr>
            <a:r>
              <a:t>16 MB flat — no MMU, no ASLR, no DEP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727960"/>
            <a:ext cx="9875520" cy="6350"/>
          </a:xfrm>
          <a:prstGeom prst="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80416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Menlo"/>
              </a:defRPr>
            </a:pPr>
            <a:r>
              <a:t>Main binary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04160"/>
            <a:ext cx="7772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AF0"/>
                </a:solidFill>
                <a:latin typeface="Helvetica Neue"/>
              </a:defRPr>
            </a:pPr>
            <a:r>
              <a:t>1ST_READ.BIN — 4.4 MB, loaded at 0x8C010000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3108960"/>
            <a:ext cx="9875520" cy="6350"/>
          </a:xfrm>
          <a:prstGeom prst="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18516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Menlo"/>
              </a:defRPr>
            </a:pPr>
            <a:r>
              <a:t>Java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185160"/>
            <a:ext cx="7772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AF0"/>
                </a:solidFill>
                <a:latin typeface="Helvetica Neue"/>
              </a:defRPr>
            </a:pPr>
            <a:r>
              <a:t>PersonalJava 1.1.8, class format v45.3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489960"/>
            <a:ext cx="9875520" cy="6350"/>
          </a:xfrm>
          <a:prstGeom prst="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56616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Menlo"/>
              </a:defRPr>
            </a:pPr>
            <a:r>
              <a:t>Online 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566160"/>
            <a:ext cx="7772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AF0"/>
                </a:solidFill>
                <a:latin typeface="Helvetica Neue"/>
              </a:defRPr>
            </a:pPr>
            <a:r>
              <a:t>"Eden" framework → eden.planetweb.com (dead since ~2003)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70960"/>
            <a:ext cx="9875520" cy="6350"/>
          </a:xfrm>
          <a:prstGeom prst="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47160"/>
            <a:ext cx="20116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Menlo"/>
              </a:defRPr>
            </a:pPr>
            <a:r>
              <a:t>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947160"/>
            <a:ext cx="7772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E6EAF0"/>
                </a:solidFill>
                <a:latin typeface="Helvetica Neue"/>
              </a:defRPr>
            </a:pPr>
            <a:r>
              <a:t>56k modem (built-in) / broadband adapter (optional)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251960"/>
            <a:ext cx="9875520" cy="6350"/>
          </a:xfrm>
          <a:prstGeom prst="rect">
            <a:avLst/>
          </a:prstGeom>
          <a:solidFill>
            <a:srgbClr val="1A1D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t>The browser dials up, fetches code from a server that no longer exists — whoever answers for that domain owns the console.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REVERSE ENGINEERING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4937760" cy="210312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38100" cy="2103120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41120"/>
            <a:ext cx="455676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GD-ROM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71320"/>
            <a:ext cx="4556760" cy="1468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CDD6"/>
                </a:solidFill>
                <a:latin typeface="Helvetica Neue"/>
              </a:defRPr>
            </a:pPr>
            <a:r>
              <a:t>The Dreamcast uses a proprietary disc format (GD-ROM). Game data lives in a high-density area at LBA 45000. The ISO9660 stores absolute sector addresses — standard ISO tools break. Wrote a custom extractor (extract_dreamcast.py).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029200" cy="210312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38100" cy="2103120"/>
          </a:xfrm>
          <a:prstGeom prst="rect">
            <a:avLst/>
          </a:prstGeom>
          <a:solidFill>
            <a:srgbClr val="4A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1120"/>
            <a:ext cx="46482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IDA Pro + SH-4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71320"/>
            <a:ext cx="4648200" cy="1468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CDD6"/>
                </a:solidFill>
                <a:latin typeface="Helvetica Neue"/>
              </a:defRPr>
            </a:pPr>
            <a:r>
              <a:t>Open 1ST_READ.BIN in IDA — it has no idea what it’s looking at. No headers, no entry hints. Select the SH-4 processor module, set load address to 0x8C010000, point the entry at the first instruction. IDA 9.x has a working SH-4 decompiler.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657600"/>
            <a:ext cx="10424160" cy="182880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657600"/>
            <a:ext cx="38100" cy="182880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810000"/>
            <a:ext cx="1004316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Java decompilation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140200"/>
            <a:ext cx="10043160" cy="1193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CDD6"/>
                </a:solidFill>
                <a:latin typeface="Helvetica Neue"/>
              </a:defRPr>
            </a:pPr>
            <a:r>
              <a:t>The browser bundles a full Java runtime (classes.zip). Decompiled all PlanetWeb/Eden/OpenBrew packages to understand the service-loading chain, the native bridge, and the trust model. Class format v45.3 — must compile against the device’s own classes.zip, not a standard JDK.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E6EAF0"/>
                </a:solidFill>
                <a:latin typeface="Menlo"/>
              </a:defRPr>
            </a:pPr>
            <a:r>
              <a:t>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enlo"/>
              </a:defRPr>
            </a:pPr>
            <a:r>
              <a:t>attack surface mapping &amp; chain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ATTACK SURFACE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3200400" cy="20116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38100" cy="2011680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41120"/>
            <a:ext cx="2819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Eden service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71320"/>
            <a:ext cx="2819400" cy="1376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Auto-login, discovery, subscription, JAR download + execution. All plaintext HTTP. No signing. No sandbox.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188720"/>
            <a:ext cx="3200400" cy="20116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188720"/>
            <a:ext cx="38100" cy="2011680"/>
          </a:xfrm>
          <a:prstGeom prst="rect">
            <a:avLst/>
          </a:prstGeom>
          <a:solidFill>
            <a:srgbClr val="4A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341120"/>
            <a:ext cx="2819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Java→native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671320"/>
            <a:ext cx="2819400" cy="1376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27 native commands via sendCommand(int, Object, Object). Flash writes, VMU file ops, URL navigation, device-ID get/set.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200400" cy="20116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8100" cy="201168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341120"/>
            <a:ext cx="2819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Native parsers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671320"/>
            <a:ext cx="2819400" cy="1376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Image decoders (JPEG, GIF, PNG), MIME attachment parser, HTML renderer. All native SH-4, no bounds checking.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57600"/>
            <a:ext cx="4754880" cy="164592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657600"/>
            <a:ext cx="38100" cy="1645920"/>
          </a:xfrm>
          <a:prstGeom prst="rect">
            <a:avLst/>
          </a:prstGeom>
          <a:solidFill>
            <a:srgbClr val="5C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810000"/>
            <a:ext cx="43738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Mail client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40200"/>
            <a:ext cx="4373880" cy="1010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Full POP3/SMTP client. MIME parsing in native code. Attachment name= parameter → unbounded stack copy.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657600"/>
            <a:ext cx="4754880" cy="164592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3657600"/>
            <a:ext cx="38100" cy="1645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810000"/>
            <a:ext cx="437388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VMU / peripheral I/O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140200"/>
            <a:ext cx="4373880" cy="1010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File read/write to Visual Memory Unit. Filename + content from attacker bytes. Path/length validation absent.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ATTACK CHAIN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Helvetica Neue"/>
              </a:defRPr>
            </a:pPr>
            <a:r>
              <a:t>Two viable paths to native code execution — we use both.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85D2C"/>
                </a:solidFill>
                <a:latin typeface="Menlo"/>
              </a:defRPr>
            </a:pPr>
            <a:r>
              <a:t>Path A: Design-flaw RCE (foothold + transport)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84632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300">
                <a:solidFill>
                  <a:srgbClr val="C8CDD6"/>
                </a:solidFill>
                <a:latin typeface="Menlo"/>
              </a:defRPr>
              <a:buChar char="•"/>
              <a:buClr>
                <a:srgbClr val="6B7280"/>
              </a:buClr>
            </a:pPr>
            <a:r>
              <a:t>①  Answer DNS for eden.planetweb.com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300">
                <a:solidFill>
                  <a:srgbClr val="C8CDD6"/>
                </a:solidFill>
                <a:latin typeface="Menlo"/>
              </a:defRPr>
              <a:buChar char="•"/>
              <a:buClr>
                <a:srgbClr val="6B7280"/>
              </a:buClr>
            </a:pPr>
            <a:r>
              <a:t>②  Serve rogue Eden login → discovery → subscribe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300">
                <a:solidFill>
                  <a:srgbClr val="C8CDD6"/>
                </a:solidFill>
                <a:latin typeface="Menlo"/>
              </a:defRPr>
              <a:buChar char="•"/>
              <a:buClr>
                <a:srgbClr val="6B7280"/>
              </a:buClr>
            </a:pPr>
            <a:r>
              <a:t>③  Console downloads + runs our JAR (privileged)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B87A"/>
                </a:solidFill>
                <a:latin typeface="Helvetica Neue"/>
              </a:defRPr>
            </a:pPr>
            <a:r>
              <a:t>100% reliable. Zero corruption. Our foothold.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Path B: Memory corruption (pivot to native)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300">
                <a:solidFill>
                  <a:srgbClr val="C8CDD6"/>
                </a:solidFill>
                <a:latin typeface="Menlo"/>
              </a:defRPr>
              <a:buChar char="•"/>
              <a:buClr>
                <a:srgbClr val="6B7280"/>
              </a:buClr>
            </a:pPr>
            <a:r>
              <a:t>④  Java calls setRawDeviceID(byte[]) via bridge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300">
                <a:solidFill>
                  <a:srgbClr val="C8CDD6"/>
                </a:solidFill>
                <a:latin typeface="Menlo"/>
              </a:defRPr>
              <a:buChar char="•"/>
              <a:buClr>
                <a:srgbClr val="6B7280"/>
              </a:buClr>
            </a:pPr>
            <a:r>
              <a:t>⑤  Unbounded memcpy plants stub at fixed address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300">
                <a:solidFill>
                  <a:srgbClr val="C8CDD6"/>
                </a:solidFill>
                <a:latin typeface="Menlo"/>
              </a:defRPr>
              <a:buChar char="•"/>
              <a:buClr>
                <a:srgbClr val="6B7280"/>
              </a:buClr>
            </a:pPr>
            <a:r>
              <a:t>⑥  Email overflow → saved PR = stub → native exec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65760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CB87A"/>
                </a:solidFill>
                <a:latin typeface="Helvetica Neue"/>
              </a:defRPr>
            </a:pPr>
            <a:r>
              <a:t>Deterministic. No spray, no sled.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E6EAF0"/>
                </a:solidFill>
                <a:latin typeface="Menlo"/>
              </a:defRPr>
            </a:pPr>
            <a: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enlo"/>
              </a:defRPr>
            </a:pPr>
            <a:r>
              <a:t>6 vulnerabilities · 389 unique crashes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BUG #1 — EDEN SERVICE-SUBSCRIPTION 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85D2C"/>
                </a:solidFill>
                <a:latin typeface="Menlo"/>
              </a:defRPr>
            </a:pPr>
            <a:r>
              <a:t>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C8E8"/>
                </a:solidFill>
                <a:latin typeface="Menlo"/>
              </a:defRPr>
            </a:pPr>
            <a:r>
              <a:t>boot → Eden login → discovery URL (server XML) → subscribe</a:t>
            </a:r>
            <a:br/>
            <a:r>
              <a:t>→ service JAR URL (server-controlled) → download over plaintext HTTP</a:t>
            </a:r>
            <a:br/>
            <a:r>
              <a:t>→ read Main-Class → JarClassLoader.newInstance().run()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502920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No SecurityManager is ever installed — loaded code is fully privileged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No JAR signature check anywhere in ServiceManager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All comms plaintext HTTP to a dead domain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Jar-Files: manifest attr pulls additional JARs from arbitrary URLs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2743200"/>
            <a:ext cx="4846320" cy="228600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2743200"/>
            <a:ext cx="38100" cy="2286000"/>
          </a:xfrm>
          <a:prstGeom prst="rect">
            <a:avLst/>
          </a:prstGeom>
          <a:solidFill>
            <a:srgbClr val="5C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895600"/>
            <a:ext cx="446532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25800"/>
            <a:ext cx="4465320" cy="1651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CDD6"/>
                </a:solidFill>
                <a:latin typeface="Helvetica Neue"/>
              </a:defRPr>
            </a:pPr>
            <a:r>
              <a:t>Anyone who answers DNS for eden.planetweb.com ships a JAR the console downloads and runs — arbitrary privileged code, no interaction, no corruption. The domain has been dead for 20+ years.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BUG #2 — MIME NAME= STACK OVERFLOW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84A"/>
                </a:solidFill>
                <a:latin typeface="Menlo"/>
              </a:defRPr>
            </a:pPr>
            <a:r>
              <a:t>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27432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Mail client handler fn_application_x_dreamcas @ 0x8C04669C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MIME attachment name= parameter copied unbounded into a 64-byte stack buffer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Overwrites saved return address (PR register) → full SH-4 PC control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Byte constraints: copy terminates on 0x00, 0x20 (space), 0x22 (quote) — payload avoids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6EAF0"/>
                </a:solidFill>
                <a:latin typeface="Helvetica Neue"/>
              </a:defRPr>
            </a:pPr>
            <a:r>
              <a:t>An email that, when opened, gives us native code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Helvetica Neue"/>
              </a:defRPr>
            </a:pPr>
            <a:r>
              <a:t>This is the pivot from the Java sandbox to bare-metal SH-4.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BUG #3 — SETRAWDEVICEID UNBOUNDED MEMCPY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4A84A"/>
                </a:solidFill>
                <a:latin typeface="Menlo"/>
              </a:defRPr>
            </a:pPr>
            <a:r>
              <a:t>HIGH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7315200" cy="10972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188720"/>
            <a:ext cx="38100" cy="109728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4A84A"/>
                </a:solidFill>
                <a:latin typeface="Menlo"/>
              </a:defRPr>
            </a:pPr>
            <a:r>
              <a:t>memcpy(dst=0x8C29ABE6 [FIXED], src=attacker byte[], len=attacker)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6858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The device-ID field is 8 bytes. Length from VM array marshalling — no bound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6EAF0"/>
                </a:solidFill>
                <a:latin typeface="Menlo"/>
              </a:defRPr>
            </a:pPr>
            <a:r>
              <a:t>What this gives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Linear write of attacker-controlled bytes to a fixed, known address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Reachable directly from our privileged Java code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Not just a crash — a controlled placement primitive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A84A"/>
                </a:solidFill>
                <a:latin typeface="Menlo"/>
              </a:defRPr>
            </a:pPr>
            <a:r>
              <a:t>BSS neighbors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484632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D4A84A"/>
              </a:buClr>
            </a:pPr>
            <a:r>
              <a:t>+0x08  state flag (12 refs, byte load/store)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E85D2C"/>
                </a:solidFill>
                <a:latin typeface="Helvetica Neue"/>
              </a:defRPr>
              <a:buChar char="•"/>
              <a:buClr>
                <a:srgbClr val="D4A84A"/>
              </a:buClr>
            </a:pPr>
            <a:r>
              <a:t>+0x42  IM object pointer (32 refs, virtual-called)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D4A84A"/>
              </a:buClr>
            </a:pPr>
            <a:r>
              <a:t>+0x76  error-code switch base (50 refs)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Helvetica Neue"/>
              </a:defRPr>
            </a:pPr>
            <a:r>
              <a:t>Remember this primitive. It solves the hardest problem in the chain.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BONUS BUGS — IMAGE PARSER CRASHES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457200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4A84A"/>
                </a:solidFill>
                <a:latin typeface="Menlo"/>
              </a:defRPr>
            </a:pPr>
            <a:r>
              <a:t>DoS / ACE LEADS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CDD6"/>
                </a:solidFill>
                <a:latin typeface="Helvetica Neue"/>
              </a:defRPr>
            </a:pPr>
            <a:r>
              <a:t>An in-browser fuzzer (mutated images at unique URLs to bypass VMU page cache) found 78 faults + 279 hangs across 389 unique crashes: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3200400" cy="146304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38100" cy="146304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64080"/>
            <a:ext cx="2819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GIF LZW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94280"/>
            <a:ext cx="2819400" cy="828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Min code size = 12 (valid: 2–8) → decoder infinite loop. 35-byte PoC.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011680"/>
            <a:ext cx="3200400" cy="146304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38100" cy="146304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64080"/>
            <a:ext cx="2819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Progressive JPEG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494280"/>
            <a:ext cx="2819400" cy="828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SOF2 component count Nf=5 (max 4) → component-array OOB → hang.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011680"/>
            <a:ext cx="3200400" cy="146304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011680"/>
            <a:ext cx="38100" cy="146304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64080"/>
            <a:ext cx="28194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GIF dimensions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94280"/>
            <a:ext cx="2819400" cy="828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65535 × 65535 logical screen → allocation/loop hang.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Helvetica Neue"/>
              </a:defRPr>
            </a:pPr>
            <a:r>
              <a:t>All reachable by a served image alone — no Java needed. The JPEG and GIF faults are strong memory-corruption leads.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FINDINGS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188720"/>
          <a:ext cx="97840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6583680"/>
                <a:gridCol w="1645920"/>
                <a:gridCol w="109728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C8E8"/>
                          </a:solidFill>
                          <a:latin typeface="Menlo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C8E8"/>
                          </a:solidFill>
                          <a:latin typeface="Menlo"/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C8E8"/>
                          </a:solidFill>
                          <a:latin typeface="Menlo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AC8E8"/>
                          </a:solidFill>
                          <a:latin typeface="Menlo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Menl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Eden service-subscription RCE (unauth, no sandbox, no signing)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E85D2C"/>
                          </a:solidFill>
                          <a:latin typeface="Menlo"/>
                        </a:defRPr>
                      </a:pPr>
                      <a:r>
                        <a:t>CRIT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Menl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MIME name= stack buffer overflow → PC control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Mem-corruption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4A84A"/>
                          </a:solidFill>
                          <a:latin typeface="Menlo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Menlo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setRawDeviceID unbounded memcpy to fixed address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Mem-corruption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D4A84A"/>
                          </a:solidFill>
                          <a:latin typeface="Menlo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Menlo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GIF LZW min-code-size unvalidated → decoder hang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Parser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C8E8"/>
                          </a:solidFill>
                          <a:latin typeface="Menlo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Menlo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Progressive JPEG SOF2 component-count OOB → hang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Parser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C8E8"/>
                          </a:solidFill>
                          <a:latin typeface="Menlo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Menlo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GIF oversized dimensions → allocation hang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Parser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C8E8"/>
                          </a:solidFill>
                          <a:latin typeface="Menlo"/>
                        </a:defRPr>
                      </a:pPr>
                      <a:r>
                        <a:t>MED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Menlo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Plaintext HTTP · Jar-Files arbitrary pull · no cert pinning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C8CDD6"/>
                          </a:solidFill>
                          <a:latin typeface="Helvetica Neue"/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6B7280"/>
                          </a:solidFill>
                          <a:latin typeface="Menlo"/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08090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3035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t>All findings on a vendor and platform dead since 2001. No CVE — no one left to coordinate with.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E6EAF0"/>
                </a:solidFill>
                <a:latin typeface="Menlo"/>
              </a:defRPr>
            </a:pPr>
            <a:r>
              <a:t>The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enlo"/>
              </a:defRPr>
            </a:pPr>
            <a:r>
              <a:t>from DNS query to native DOOM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THE FULL EXPLOIT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8CDD6"/>
                </a:solidFill>
                <a:latin typeface="Menlo"/>
              </a:defRPr>
            </a:pPr>
            <a:r>
              <a:t>DNS MITM eden.planetweb.com → Eden subscription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85D2C"/>
                </a:solidFill>
                <a:latin typeface="Menlo"/>
              </a:defRPr>
            </a:pPr>
            <a:r>
              <a:t>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8CDD6"/>
                </a:solidFill>
                <a:latin typeface="Menlo"/>
              </a:defRPr>
            </a:pPr>
            <a:r>
              <a:t> → privileged Java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8CDD6"/>
                </a:solidFill>
                <a:latin typeface="Menlo"/>
              </a:defRPr>
            </a:pPr>
            <a:r>
              <a:t>→ chunked-stage doom+WAD into the heap (32 KB chunks, 3.8 MB total)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85D2C"/>
                </a:solidFill>
                <a:latin typeface="Menlo"/>
              </a:defRPr>
            </a:pPr>
            <a:r>
              <a:t>→ plant SH-4 stub @ 0x8C29ADE8 via setRawDeviceID memcpy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8CDD6"/>
                </a:solidFill>
                <a:latin typeface="Menlo"/>
              </a:defRPr>
            </a:pPr>
            <a:r>
              <a:t>→ craft + send the DOOM-STAGE email → MIME stack overflow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85D2C"/>
                </a:solidFill>
                <a:latin typeface="Menlo"/>
              </a:defRPr>
            </a:pPr>
            <a:r>
              <a:t>→ saved PR = 0x8C29ADE8 → stub scans heap for magic → copies doom+WAD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60"/>
            <a:ext cx="10058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CB87A"/>
                </a:solidFill>
                <a:latin typeface="Menlo"/>
              </a:defRPr>
            </a:pPr>
            <a:r>
              <a:t>→ native SH-4 DOOM, live on the Dreamcast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Helvetica Neue"/>
              </a:defRPr>
            </a:pPr>
            <a:r>
              <a:t>Reliable. Reproducible. One command to launch.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CHALLENGE #1 — THE OVERFLOW WAS A COIN FLIP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9436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Fixed payload, fixed saved-PR value — yet ~50% of opens crashed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The stack location at trigger time varies by ~32 KB (browser call depth / JVM state)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Hardcoded PR → on-stack NOP sled is a gamble: half the time it clobbers a live pointer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No clean jmp @r15 or stack-pivot gadget in the 4.4 MB binary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371600"/>
            <a:ext cx="3657600" cy="320040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3657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E84A4A"/>
                </a:solidFill>
                <a:latin typeface="Menlo"/>
              </a:defRPr>
            </a:pPr>
            <a:r>
              <a:t>~50%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31089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8CDD6"/>
                </a:solidFill>
                <a:latin typeface="Helvetica Neue"/>
              </a:defRPr>
            </a:pPr>
            <a:r>
              <a:t>reliable, at best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5661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7280"/>
                </a:solidFill>
                <a:latin typeface="Helvetica Neue"/>
              </a:defRPr>
            </a:pPr>
            <a:r>
              <a:t>Unacceptable for a live demo.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CHALLENGE #1 — THE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9418320" cy="91440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371600"/>
            <a:ext cx="38100" cy="914400"/>
          </a:xfrm>
          <a:prstGeom prst="rect">
            <a:avLst/>
          </a:prstGeom>
          <a:solidFill>
            <a:srgbClr val="5C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63040"/>
            <a:ext cx="9418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6EAF0"/>
                </a:solidFill>
                <a:latin typeface="Helvetica Neue"/>
              </a:defRPr>
            </a:pPr>
            <a:r>
              <a:t>Don’t fight the random stack. Put the code at a fixed address.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C8E8"/>
                </a:solidFill>
                <a:latin typeface="Menlo"/>
              </a:defRPr>
            </a:pPr>
            <a:r>
              <a:t>Java (reliable) → setRawDeviceID(100) plants 366-byte SH-4 stub at 0x8C29ADE8</a:t>
            </a:r>
            <a:br/>
            <a:r>
              <a:t>Overflow → saved PR = 0x8C29ADE8 · no sled, no stack dependence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6EAF0"/>
                </a:solidFill>
                <a:latin typeface="Helvetica Neue"/>
              </a:defRPr>
            </a:pPr>
            <a:r>
              <a:t>A "bug" (no bounds check) became our reliability mechanism.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Helvetica Neue"/>
              </a:defRPr>
            </a:pPr>
            <a:r>
              <a:t>Deterministic every time. The unbounded write fixes the random stack.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CHALLENGE #2 — DON’T KILL THE BROWSER WHILE PLANTING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The memcpy destination overlaps an IM-list head pointer at DST+0x46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Zero it → interface manager dereferences null → crash before the overflow fires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5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Can’t read it back to preserve it — getRawDeviceID only returns 8 bytes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200400"/>
            <a:ext cx="7315200" cy="164592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38100" cy="1645920"/>
          </a:xfrm>
          <a:prstGeom prst="rect">
            <a:avLst/>
          </a:prstGeom>
          <a:solidFill>
            <a:srgbClr val="5C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352800"/>
            <a:ext cx="69342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Fix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83000"/>
            <a:ext cx="6934200" cy="1010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8CDD6"/>
                </a:solidFill>
                <a:latin typeface="Helvetica Neue"/>
              </a:defRPr>
            </a:pPr>
            <a:r>
              <a:t>Write a harmless fake node whose teardown-unlink targets scratch memory. Plant last (after staging the payload) to minimize the survival window. Browser stays alive; mail UI keeps working.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CHALLENGE #3 — GETTING 3.8 MB ONTO 16 MB OF 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6EAF0"/>
                </a:solidFill>
                <a:latin typeface="Menlo"/>
              </a:defRPr>
            </a:pPr>
            <a:r>
              <a:t>The email can’t carry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02920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Mail attachment parser is O(n²) — a big body hangs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So Java stages doom.bin + WAD over HTTP into one heap byte[]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The native stub scans the heap for a magic tag, copies it into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4A84A"/>
                </a:solidFill>
                <a:latin typeface="Menlo"/>
              </a:defRPr>
            </a:pPr>
            <a:r>
              <a:t>The network fights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2286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E84A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A single 3.4 MB URL.openStream() hangs the net thread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PersonalJava 1.1.8: no setRequestProperty, close() won’t unblock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5CB87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Fix: chunked transfer — 32 KB pieces via ?start=N&amp;len=M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5CB87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Write the magic tag last → scanner only finds a complete blob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CHALLENGE #4 — ACTUALLY MAKING DOOM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4937760" cy="164592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88720"/>
            <a:ext cx="38100" cy="1645920"/>
          </a:xfrm>
          <a:prstGeom prst="rect">
            <a:avLst/>
          </a:prstGeom>
          <a:solidFill>
            <a:srgbClr val="E85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341120"/>
            <a:ext cx="455676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Memory tetris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671320"/>
            <a:ext cx="4556760" cy="1010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WAD @ 0x8C450000, engine @ 0x8CC00000, heap @ 0x8C790000. Non-overlapping, manually laid out in 16 MB. Trim audio lumps.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029200" cy="164592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38100" cy="1645920"/>
          </a:xfrm>
          <a:prstGeom prst="rect">
            <a:avLst/>
          </a:prstGeom>
          <a:solidFill>
            <a:srgbClr val="4A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1120"/>
            <a:ext cx="46482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71320"/>
            <a:ext cx="4648200" cy="1010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No KOS — reuse the browser’s live video. Live-read FB_R_SOF1 for the real framebuffer address. 2× scale 320×200 → 640×480.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00400"/>
            <a:ext cx="4937760" cy="164592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200400"/>
            <a:ext cx="38100" cy="164592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352800"/>
            <a:ext cx="455676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Timing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83000"/>
            <a:ext cx="4556760" cy="1010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Drive the game loop off SH-4 TMU2 free-running counter — no interrupts needed, just poll the decrementer.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029200" cy="164592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38100" cy="1645920"/>
          </a:xfrm>
          <a:prstGeom prst="rect">
            <a:avLst/>
          </a:prstGeom>
          <a:solidFill>
            <a:srgbClr val="5CB8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352800"/>
            <a:ext cx="464820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Boot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83000"/>
            <a:ext cx="4648200" cy="1010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Clear SR.BL, mask IRQs, inherit the browser’s machine state, then jump in. Sound disabled (audio lumps trimmed from WAD).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16 MB MEMORY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3474720" cy="45720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8760" y="114300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enlo"/>
              </a:defRPr>
            </a:pPr>
            <a:r>
              <a:t>0x8CF00000  debug log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554480"/>
            <a:ext cx="3474720" cy="731520"/>
          </a:xfrm>
          <a:prstGeom prst="rect">
            <a:avLst/>
          </a:prstGeom>
          <a:solidFill>
            <a:srgbClr val="141E24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C8E8"/>
                </a:solidFill>
                <a:latin typeface="Menlo"/>
              </a:defRPr>
            </a:pPr>
            <a:r>
              <a:t>0x8CC00000  DOOM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3474720" cy="640080"/>
          </a:xfrm>
          <a:prstGeom prst="rect">
            <a:avLst/>
          </a:prstGeom>
          <a:solidFill>
            <a:srgbClr val="1C1210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331720"/>
            <a:ext cx="3200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E85D2C"/>
                </a:solidFill>
                <a:latin typeface="Menlo"/>
              </a:defRPr>
            </a:pPr>
            <a:r>
              <a:t>~0x8C867000  JVM heap / staged blob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2926080"/>
            <a:ext cx="3474720" cy="548640"/>
          </a:xfrm>
          <a:prstGeom prst="rect">
            <a:avLst/>
          </a:prstGeom>
          <a:solidFill>
            <a:srgbClr val="101C14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297180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CB87A"/>
                </a:solidFill>
                <a:latin typeface="Menlo"/>
              </a:defRPr>
            </a:pPr>
            <a:r>
              <a:t>0x8C790000  DOOM heap + zone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474720"/>
            <a:ext cx="3474720" cy="548640"/>
          </a:xfrm>
          <a:prstGeom prst="rect">
            <a:avLst/>
          </a:prstGeom>
          <a:solidFill>
            <a:srgbClr val="141E24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52044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4AC8E8"/>
                </a:solidFill>
                <a:latin typeface="Menlo"/>
              </a:defRPr>
            </a:pPr>
            <a:r>
              <a:t>0x8C450000  WAD (copied here)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023360"/>
            <a:ext cx="3474720" cy="457200"/>
          </a:xfrm>
          <a:prstGeom prst="rect">
            <a:avLst/>
          </a:prstGeom>
          <a:solidFill>
            <a:srgbClr val="1C1A10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40690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D4A84A"/>
                </a:solidFill>
                <a:latin typeface="Menlo"/>
              </a:defRPr>
            </a:pPr>
            <a:r>
              <a:t>~0x8C3Cxxxx  stack ↕ overflow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480560"/>
            <a:ext cx="3474720" cy="1097280"/>
          </a:xfrm>
          <a:prstGeom prst="rect">
            <a:avLst/>
          </a:prstGeom>
          <a:solidFill>
            <a:srgbClr val="0F1420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4526280"/>
            <a:ext cx="3200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enlo"/>
              </a:defRPr>
            </a:pPr>
            <a:r>
              <a:t>0x8C010000  Browser + BSS (4.4 MB)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5029200"/>
            <a:ext cx="3474720" cy="25400"/>
          </a:xfrm>
          <a:prstGeom prst="rect">
            <a:avLst/>
          </a:prstGeom>
          <a:solidFill>
            <a:srgbClr val="4A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5120640"/>
            <a:ext cx="3474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AC8E8"/>
                </a:solidFill>
                <a:latin typeface="Menlo"/>
              </a:defRPr>
            </a:pPr>
            <a:r>
              <a:t>0x8C29ADE8 ← planted stub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2801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EAF0"/>
                </a:solidFill>
                <a:latin typeface="Menlo"/>
              </a:defRPr>
            </a:pPr>
            <a:r>
              <a:t>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737360"/>
            <a:ext cx="5303520" cy="36576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D4A8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16 MB total — doom+WAD (~3.8 MB) must tetris around a live 4.4 MB browser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5CB87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No ASLR — every address is fixed... except the stack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E84A4A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The stack varies ±32 KB at trigger time → the reliability problem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4AC8E8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The planted stub lands at a fixed BSS address via the memcpy primitive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WAD, engine, heap: all at addresses we chose to avoid overlap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E6EAF0"/>
                </a:solidFill>
                <a:latin typeface="Menlo"/>
              </a:defRPr>
            </a:pPr>
            <a:r>
              <a:t>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enlo"/>
              </a:defRPr>
            </a:pPr>
            <a:r>
              <a:t>how we saw inside a black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DEBUGGING WITH THE DREAMCAST EMULATOR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6EAF0"/>
                </a:solidFill>
                <a:latin typeface="Menlo"/>
              </a:defRPr>
            </a:pPr>
            <a:r>
              <a:t>Custom Flycast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029200" cy="32004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Built Flycast from source with GDB stub enabled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Added patch to dump SH-4 fault context on every exception: epc, PR, SR.BL, r15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DOOM writes debug log to fixed RAM buffer — emulator dumps it on fatal fault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Defeated dynarec breakpoint problem: GDBWaitForConnection=yes forces cache flush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4846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6EAF0"/>
                </a:solidFill>
                <a:latin typeface="Menlo"/>
              </a:defRPr>
            </a:pPr>
            <a:r>
              <a:t>Live guest-RAM reads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4632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Read guest memory via /proc/&lt;pid&gt;/mem from the host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Verified stub planted correctly, WAD copied byte-for-byte</a:t>
            </a:r>
          </a:p>
          <a:p>
            <a:pPr>
              <a:lnSpc>
                <a:spcPct val="140000"/>
              </a:lnSpc>
              <a:spcAft>
                <a:spcPts val="400"/>
              </a:spcAft>
              <a:defRPr sz="1400">
                <a:solidFill>
                  <a:srgbClr val="C8CDD6"/>
                </a:solidFill>
                <a:latin typeface="Helvetica Neue"/>
              </a:defRPr>
              <a:buChar char="•"/>
              <a:buClr>
                <a:srgbClr val="6B7280"/>
              </a:buClr>
            </a:pPr>
            <a:r>
              <a:t>Caught: truncated WAD, off-screen framebuffer, hung download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657600"/>
            <a:ext cx="4846320" cy="137160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3657600"/>
            <a:ext cx="38100" cy="1371600"/>
          </a:xfrm>
          <a:prstGeom prst="rect">
            <a:avLst/>
          </a:prstGeom>
          <a:solidFill>
            <a:srgbClr val="E6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810000"/>
            <a:ext cx="4465320" cy="279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C8E8"/>
                </a:solidFill>
                <a:latin typeface="Menlo"/>
              </a:defRPr>
            </a:pPr>
            <a: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4140200"/>
            <a:ext cx="4465320" cy="736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CDD6"/>
                </a:solidFill>
                <a:latin typeface="Helvetica Neue"/>
              </a:defRPr>
            </a:pPr>
            <a:r>
              <a:t>Every fix in this talk came from reading the actual machine state, not guessing. The emulator turned a black box into an observable system.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MEMORY EVOLUTION — STAGE BY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E85D2C"/>
                </a:solidFill>
                <a:latin typeface="Menlo"/>
              </a:defRPr>
            </a:pPr>
            <a:r>
              <a:t>1 · RCE +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097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4AC8E8"/>
                </a:solidFill>
                <a:latin typeface="Menlo"/>
              </a:defRPr>
            </a:pPr>
            <a:r>
              <a:t>2 · plant stub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97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CB87A"/>
                </a:solidFill>
                <a:latin typeface="Menlo"/>
              </a:defRPr>
            </a:pPr>
            <a:r>
              <a:t>3 · overflow +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10972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D4A84A"/>
                </a:solidFill>
                <a:latin typeface="Menlo"/>
              </a:defRPr>
            </a:pPr>
            <a:r>
              <a:t>4 · DOOM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" y="15544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enlo"/>
              </a:defRPr>
            </a:pPr>
            <a:r>
              <a:t>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" y="210312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enlo"/>
              </a:defRPr>
            </a:pPr>
            <a:r>
              <a:t>blob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265176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enlo"/>
              </a:defRPr>
            </a:pPr>
            <a:r>
              <a:t>heap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32004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enlo"/>
              </a:defRPr>
            </a:pPr>
            <a:r>
              <a:t>WAD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3749039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enlo"/>
              </a:defRPr>
            </a:pPr>
            <a:r>
              <a:t>stub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42976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enlo"/>
              </a:defRPr>
            </a:pPr>
            <a:r>
              <a:t>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1554480"/>
            <a:ext cx="2377440" cy="4114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103120"/>
            <a:ext cx="2377440" cy="411480"/>
          </a:xfrm>
          <a:prstGeom prst="rect">
            <a:avLst/>
          </a:prstGeom>
          <a:solidFill>
            <a:srgbClr val="E85D2C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17627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8090C"/>
                </a:solidFill>
                <a:latin typeface="Menlo"/>
              </a:defRPr>
            </a:pPr>
            <a:r>
              <a:t>blob staged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2651760"/>
            <a:ext cx="2377440" cy="411480"/>
          </a:xfrm>
          <a:prstGeom prst="rect">
            <a:avLst/>
          </a:prstGeom>
          <a:solidFill>
            <a:srgbClr val="0F1420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72491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JVM heap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200400"/>
            <a:ext cx="2377440" cy="4114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749039"/>
            <a:ext cx="2377440" cy="4114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297680"/>
            <a:ext cx="2377440" cy="411480"/>
          </a:xfrm>
          <a:prstGeom prst="rect">
            <a:avLst/>
          </a:prstGeom>
          <a:solidFill>
            <a:srgbClr val="0F1420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7083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browser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1554480"/>
            <a:ext cx="2377440" cy="4114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0" y="2103120"/>
            <a:ext cx="2377440" cy="411480"/>
          </a:xfrm>
          <a:prstGeom prst="rect">
            <a:avLst/>
          </a:prstGeom>
          <a:solidFill>
            <a:srgbClr val="1C1210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0" y="217627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blob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651760"/>
            <a:ext cx="2377440" cy="411480"/>
          </a:xfrm>
          <a:prstGeom prst="rect">
            <a:avLst/>
          </a:prstGeom>
          <a:solidFill>
            <a:srgbClr val="0F1420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272491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JVM heap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3200400"/>
            <a:ext cx="2377440" cy="4114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840480" y="3749039"/>
            <a:ext cx="2377440" cy="411480"/>
          </a:xfrm>
          <a:prstGeom prst="rect">
            <a:avLst/>
          </a:prstGeom>
          <a:solidFill>
            <a:srgbClr val="4AC8E8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3822191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8090C"/>
                </a:solidFill>
                <a:latin typeface="Menlo"/>
              </a:defRPr>
            </a:pPr>
            <a:r>
              <a:t>stub planted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4297680"/>
            <a:ext cx="2377440" cy="411480"/>
          </a:xfrm>
          <a:prstGeom prst="rect">
            <a:avLst/>
          </a:prstGeom>
          <a:solidFill>
            <a:srgbClr val="0F1420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437083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browser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554480"/>
            <a:ext cx="2377440" cy="411480"/>
          </a:xfrm>
          <a:prstGeom prst="rect">
            <a:avLst/>
          </a:prstGeom>
          <a:solidFill>
            <a:srgbClr val="5CB87A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62763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8090C"/>
                </a:solidFill>
                <a:latin typeface="Menlo"/>
              </a:defRPr>
            </a:pPr>
            <a:r>
              <a:t>engine copied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103120"/>
            <a:ext cx="2377440" cy="411480"/>
          </a:xfrm>
          <a:prstGeom prst="rect">
            <a:avLst/>
          </a:prstGeom>
          <a:solidFill>
            <a:srgbClr val="E85D2C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217627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8090C"/>
                </a:solidFill>
                <a:latin typeface="Menlo"/>
              </a:defRPr>
            </a:pPr>
            <a:r>
              <a:t>blob (source)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2651760"/>
            <a:ext cx="2377440" cy="411480"/>
          </a:xfrm>
          <a:prstGeom prst="rect">
            <a:avLst/>
          </a:prstGeom>
          <a:solidFill>
            <a:srgbClr val="0F1420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3200400"/>
            <a:ext cx="2377440" cy="411480"/>
          </a:xfrm>
          <a:prstGeom prst="rect">
            <a:avLst/>
          </a:prstGeom>
          <a:solidFill>
            <a:srgbClr val="5CB87A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327355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8090C"/>
                </a:solidFill>
                <a:latin typeface="Menlo"/>
              </a:defRPr>
            </a:pPr>
            <a:r>
              <a:t>WAD copied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749039"/>
            <a:ext cx="2377440" cy="411480"/>
          </a:xfrm>
          <a:prstGeom prst="rect">
            <a:avLst/>
          </a:prstGeom>
          <a:solidFill>
            <a:srgbClr val="4AC8E8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3822191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8090C"/>
                </a:solidFill>
                <a:latin typeface="Menlo"/>
              </a:defRPr>
            </a:pPr>
            <a:r>
              <a:t>stub running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4297680"/>
            <a:ext cx="2377440" cy="411480"/>
          </a:xfrm>
          <a:prstGeom prst="rect">
            <a:avLst/>
          </a:prstGeom>
          <a:solidFill>
            <a:srgbClr val="0F1420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37083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D4A84A"/>
                </a:solidFill>
                <a:latin typeface="Menlo"/>
              </a:defRPr>
            </a:pPr>
            <a:r>
              <a:t>PR→stub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1554480"/>
            <a:ext cx="2377440" cy="411480"/>
          </a:xfrm>
          <a:prstGeom prst="rect">
            <a:avLst/>
          </a:prstGeom>
          <a:solidFill>
            <a:srgbClr val="D4A84A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162763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8090C"/>
                </a:solidFill>
                <a:latin typeface="Menlo"/>
              </a:defRPr>
            </a:pPr>
            <a:r>
              <a:t>DOOM running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6880" y="2103120"/>
            <a:ext cx="2377440" cy="4114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0" y="217627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defunct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2651760"/>
            <a:ext cx="2377440" cy="411480"/>
          </a:xfrm>
          <a:prstGeom prst="rect">
            <a:avLst/>
          </a:prstGeom>
          <a:solidFill>
            <a:srgbClr val="5CB87A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0" y="272491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8090C"/>
                </a:solidFill>
                <a:latin typeface="Menlo"/>
              </a:defRPr>
            </a:pPr>
            <a:r>
              <a:t>zone active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3200400"/>
            <a:ext cx="2377440" cy="411480"/>
          </a:xfrm>
          <a:prstGeom prst="rect">
            <a:avLst/>
          </a:prstGeom>
          <a:solidFill>
            <a:srgbClr val="101C14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0" y="327355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CB87A"/>
                </a:solidFill>
                <a:latin typeface="Menlo"/>
              </a:defRPr>
            </a:pPr>
            <a:r>
              <a:t>WAD (read)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3749039"/>
            <a:ext cx="2377440" cy="4114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3822191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done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26880" y="4297680"/>
            <a:ext cx="2377440" cy="41148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0" y="4370832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idle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" y="512064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Helvetica Neue"/>
              </a:defRPr>
            </a:pPr>
            <a:r>
              <a:t>Java downloads</a:t>
            </a:r>
            <a:br/>
            <a:r>
              <a:t>doom+WAD (chunked)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512064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Helvetica Neue"/>
              </a:defRPr>
            </a:pPr>
            <a:r>
              <a:t>memcpy plants stub</a:t>
            </a:r>
            <a:br/>
            <a:r>
              <a:t>at FIXED address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512064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Helvetica Neue"/>
              </a:defRPr>
            </a:pPr>
            <a:r>
              <a:t>overflow → stub scans</a:t>
            </a:r>
            <a:br/>
            <a:r>
              <a:t>blob, copies out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12064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Helvetica Neue"/>
              </a:defRPr>
            </a:pPr>
            <a:r>
              <a:t>jump to engine;</a:t>
            </a:r>
            <a:br/>
            <a:r>
              <a:t>renders to VRAM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20A"/>
            </a:gs>
            <a:gs pos="100000">
              <a:srgbClr val="12040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4114800"/>
            <a:ext cx="15544800" cy="4572000"/>
          </a:xfrm>
          <a:prstGeom prst="ellipse">
            <a:avLst/>
          </a:prstGeom>
          <a:solidFill>
            <a:srgbClr val="2A080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Menlo"/>
              </a:defRPr>
            </a:pPr>
            <a:r>
              <a:t>live on the emulated Dreamcast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9600" b="1">
                <a:solidFill>
                  <a:srgbClr val="E85D2C"/>
                </a:solidFill>
                <a:latin typeface="Menlo"/>
              </a:defRPr>
            </a:pPr>
            <a: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C8E8"/>
                </a:solidFill>
                <a:latin typeface="Menlo"/>
              </a:defRPr>
            </a:pPr>
            <a:r>
              <a:t>python3 run_doom.py → go online → wait for READY → open the email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E6EAF0"/>
                </a:solidFill>
                <a:latin typeface="Menlo"/>
              </a:defRPr>
            </a:pPr>
            <a:r>
              <a:t>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280"/>
                </a:solidFill>
                <a:latin typeface="Menlo"/>
              </a:defRPr>
            </a:pPr>
            <a:r>
              <a:t>Dreamcast game vulnerability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WHAT’S NEXT — DREAMCAST GAME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E6EAF0"/>
                </a:solidFill>
                <a:latin typeface="Menlo"/>
              </a:defRPr>
            </a:pPr>
            <a:r>
              <a:t>From the browser to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029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8CDD6"/>
                </a:solidFill>
                <a:latin typeface="Helvetica Neue"/>
              </a:defRPr>
            </a:pPr>
            <a:r>
              <a:t>The browser proved the Dreamcast is a viable research target — exotic but tractable. The same toolchain (IDA SH-4, Flycast GDB stub, live RAM reads) applies to any Dreamcast GD-ROM.</a:t>
            </a:r>
            <a:br/>
            <a:br/>
            <a:r>
              <a:t>Dreamcast games that go online share the same attack surface: no ASLR, no DEP, 16 MB flat memory, plaintext network protocols. But they add their own parsers: game-state serialization, lobby messages, spell/item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4846320" cy="4114800"/>
          </a:xfrm>
          <a:prstGeom prst="rect">
            <a:avLst/>
          </a:prstGeom>
          <a:solidFill>
            <a:srgbClr val="0F1117"/>
          </a:solidFill>
          <a:ln w="12700">
            <a:solidFill>
              <a:srgbClr val="1A1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38100" cy="4114800"/>
          </a:xfrm>
          <a:prstGeom prst="rect">
            <a:avLst/>
          </a:prstGeom>
          <a:solidFill>
            <a:srgbClr val="7EB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EB8E8"/>
                </a:solidFill>
                <a:latin typeface="Menlo"/>
              </a:defRPr>
            </a:pPr>
            <a:r>
              <a:t>Phantasy Star Online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38912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Sega’s flagship online RPG (2001). Players reported that casting certain magic spells would crash the console — specific spell combinations in specific situations.</a:t>
            </a:r>
            <a:br/>
            <a:br/>
            <a:r>
              <a:t>Spell data is serialized, sent over the network, and parsed by the game engine. A consistent crash on valid-but-edge-case input is the signature of a memory corruption bug in the spell/effect parser.</a:t>
            </a:r>
            <a:br/>
            <a:br/>
            <a:r>
              <a:t>An ideal target: network-reachable, user-triggerable, and the crash is already documented by the community.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5D2C"/>
                </a:solidFill>
                <a:latin typeface="Menlo"/>
              </a:defRPr>
            </a:pPr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B7280"/>
                </a:solidFill>
                <a:latin typeface="Menlo"/>
              </a:defRPr>
            </a:pPr>
            <a:r>
              <a:t>DEF CON · Dreamcast Ex Inferis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EAF0"/>
                </a:solidFill>
                <a:latin typeface="Helvetica Neue"/>
              </a:defRPr>
            </a:pPr>
            <a:r>
              <a:t>EOL design flaws outlive the company.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A dead update server + no sandbox = permanent RCE for whoever answers the DNS. This is still the trust model of countless shipping IoT devices.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EAF0"/>
                </a:solidFill>
                <a:latin typeface="Helvetica Neue"/>
              </a:defRPr>
            </a:pPr>
            <a:r>
              <a:t>A write primitive can be a reliability tool.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We turned an unbounded memcpy into deterministic code placement to beat a random stack — the bug fixed the other bug.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EAF0"/>
                </a:solidFill>
                <a:latin typeface="Helvetica Neue"/>
              </a:defRPr>
            </a:pPr>
            <a:r>
              <a:t>The exploit is the easy 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80% of the work was transport, memory layout, video, and timing on a constrained black box. Getting DOOM to actually run took longer than getting code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EAF0"/>
                </a:solidFill>
                <a:latin typeface="Helvetica Neue"/>
              </a:defRPr>
            </a:pPr>
            <a:r>
              <a:t>Instrument everything.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A patched emulator + live RAM reads turned guesswork into engineering. Every fix came from reading the machine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E6EAF0"/>
                </a:solidFill>
                <a:latin typeface="Helvetica Neue"/>
              </a:defRPr>
            </a:pPr>
            <a:r>
              <a:t>Old platforms are great teachers.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83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C8CDD6"/>
                </a:solidFill>
                <a:latin typeface="Helvetica Neue"/>
              </a:defRPr>
            </a:pPr>
            <a:r>
              <a:t>No ASLR/DEP/sandbox lets you learn exploitation fundamentals without fighting mitigations. The constraints are real but different.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20A"/>
            </a:gs>
            <a:gs pos="100000">
              <a:srgbClr val="12040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4114800"/>
            <a:ext cx="15544800" cy="4572000"/>
          </a:xfrm>
          <a:prstGeom prst="ellipse">
            <a:avLst/>
          </a:prstGeom>
          <a:solidFill>
            <a:srgbClr val="2A0804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E6EAF0"/>
                </a:solidFill>
                <a:latin typeface="Menlo"/>
              </a:defRPr>
            </a:pPr>
            <a:r>
              <a:t>Thanks —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29184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8CDD6"/>
                </a:solidFill>
                <a:latin typeface="Helvetica Neue"/>
              </a:defRPr>
            </a:pPr>
            <a:r>
              <a:t>Unauthenticated RCE to native DOOM. On a web browser. On a Dreamcast.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Menlo"/>
              </a:defRPr>
            </a:pPr>
            <a:r>
              <a:t>DEF CON · Creator Stage 2 · Christopher Hernandez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B7280"/>
                </a:solidFill>
                <a:latin typeface="Menlo"/>
              </a:defRPr>
            </a:pPr>
            <a:r>
              <a:t>PlanetWeb Browser v3.0 · full PoC + writeup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